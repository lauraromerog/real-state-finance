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i9UuFdkBRPb44msoR68HL6HmA7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customschemas.google.com/relationships/presentationmetadata" Target="metadata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1567f9e47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d1567f9e47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d1567f9e47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d1567f9e47_1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d1567f9e47_1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d1567f9e47_1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2E5BA8">
              <a:alpha val="45100"/>
            </a:srgbClr>
          </a:solidFill>
          <a:ln cap="flat" cmpd="sng" w="12700">
            <a:solidFill>
              <a:srgbClr val="2E5BA8">
                <a:alpha val="451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7132195" y="0"/>
            <a:ext cx="2011800" cy="5143500"/>
          </a:xfrm>
          <a:prstGeom prst="rect">
            <a:avLst/>
          </a:prstGeom>
          <a:solidFill>
            <a:srgbClr val="E8843A">
              <a:alpha val="20000"/>
            </a:srgbClr>
          </a:solidFill>
          <a:ln cap="flat" cmpd="sng" w="12700">
            <a:solidFill>
              <a:srgbClr val="E8843A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457200" y="1444752"/>
            <a:ext cx="1097280" cy="54864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02925" y="287532"/>
            <a:ext cx="6400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King County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02925" y="859655"/>
            <a:ext cx="6400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House Price Analysis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2084832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Predicting real estate prices in King County, WA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57200" y="25146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May 2014 – May 2015  ·  21,613 transactions  ·  21 features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57200" y="4160520"/>
            <a:ext cx="1920240" cy="685800"/>
          </a:xfrm>
          <a:prstGeom prst="rect">
            <a:avLst/>
          </a:prstGeom>
          <a:solidFill>
            <a:srgbClr val="0D1B4B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457200" y="417880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21,596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57200" y="4507992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Clean Records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606040" y="4160520"/>
            <a:ext cx="1920240" cy="685800"/>
          </a:xfrm>
          <a:prstGeom prst="rect">
            <a:avLst/>
          </a:prstGeom>
          <a:solidFill>
            <a:srgbClr val="0D1B4B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2606040" y="417880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24.6%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606040" y="4507992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Luxury (≥$650K)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754880" y="4160520"/>
            <a:ext cx="1920240" cy="685800"/>
          </a:xfrm>
          <a:prstGeom prst="rect">
            <a:avLst/>
          </a:prstGeom>
          <a:solidFill>
            <a:srgbClr val="0D1B4B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4754880" y="417880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$450K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754880" y="4507992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Median Price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6903720" y="4160520"/>
            <a:ext cx="1920240" cy="685800"/>
          </a:xfrm>
          <a:prstGeom prst="rect">
            <a:avLst/>
          </a:prstGeom>
          <a:solidFill>
            <a:srgbClr val="0D1B4B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6903720" y="417880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R² 0.74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6903720" y="4507992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Best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365760" y="73152"/>
            <a:ext cx="6400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65760" y="73152"/>
            <a:ext cx="8412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65760" y="868680"/>
            <a:ext cx="4114800" cy="1188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365760" y="868680"/>
            <a:ext cx="658368" cy="118872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365760" y="1143000"/>
            <a:ext cx="658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1115568" y="1033272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Data Overview &amp; Cleaning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115568" y="1371600"/>
            <a:ext cx="3246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21,613 records · targeted outlier removal · 0 nulls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4754880" y="868680"/>
            <a:ext cx="4114800" cy="1188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4754880" y="868680"/>
            <a:ext cx="658368" cy="1188720"/>
          </a:xfrm>
          <a:prstGeom prst="rect">
            <a:avLst/>
          </a:prstGeom>
          <a:solidFill>
            <a:srgbClr val="2E5BA8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4754880" y="1143000"/>
            <a:ext cx="658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504688" y="1033272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EDA &amp; Key Findings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504688" y="1371600"/>
            <a:ext cx="3246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Distributions, correlations, density lens, geo map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365760" y="2258568"/>
            <a:ext cx="4114800" cy="1188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365760" y="2258568"/>
            <a:ext cx="658368" cy="118872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365760" y="2532888"/>
            <a:ext cx="658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115568" y="242316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Feature Engineering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115568" y="2761488"/>
            <a:ext cx="3246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 new features: house_age, renovation flags, ratios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4754880" y="2258568"/>
            <a:ext cx="4114800" cy="1188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4754880" y="2258568"/>
            <a:ext cx="658368" cy="1188720"/>
          </a:xfrm>
          <a:prstGeom prst="rect">
            <a:avLst/>
          </a:prstGeom>
          <a:solidFill>
            <a:srgbClr val="2E5BA8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4754880" y="2532888"/>
            <a:ext cx="658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5504688" y="242316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Preprocessing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504688" y="2761488"/>
            <a:ext cx="3246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Log-transform, StandardScaler, 80/20 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365760" y="3648456"/>
            <a:ext cx="4114800" cy="1188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2"/>
          <p:cNvSpPr/>
          <p:nvPr/>
        </p:nvSpPr>
        <p:spPr>
          <a:xfrm>
            <a:off x="365760" y="3648456"/>
            <a:ext cx="658368" cy="118872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365760" y="3922776"/>
            <a:ext cx="658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1115568" y="3813048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Model Comparison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1115568" y="4151376"/>
            <a:ext cx="3246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 models: Linear → Gradient Boosting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754880" y="3648456"/>
            <a:ext cx="4114800" cy="11887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4754880" y="3648456"/>
            <a:ext cx="658368" cy="1188720"/>
          </a:xfrm>
          <a:prstGeom prst="rect">
            <a:avLst/>
          </a:prstGeom>
          <a:solidFill>
            <a:srgbClr val="2E5BA8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4754880" y="3922776"/>
            <a:ext cx="65836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5504688" y="3813048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Results &amp; Luxury Segment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5504688" y="4151376"/>
            <a:ext cx="3246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R²=0.74 overall · R²=0.56 luxury · feature importance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365760" y="73152"/>
            <a:ext cx="6400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· Data Overview &amp; Cleaning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365760" y="73152"/>
            <a:ext cx="8412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274320" y="804672"/>
            <a:ext cx="4023360" cy="40416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274320" y="804672"/>
            <a:ext cx="54864" cy="4041648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475488" y="896112"/>
            <a:ext cx="3657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Dataset Facts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475488" y="1298448"/>
            <a:ext cx="3703320" cy="36576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594360" y="13441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Records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1828800" y="1344168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21,613 (21,596 after cleaning)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475488" y="1728216"/>
            <a:ext cx="3703320" cy="365760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594360" y="1773936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1828800" y="1773936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21 raw  →  19 used in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475488" y="2157984"/>
            <a:ext cx="3703320" cy="36576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594360" y="220370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Period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1828800" y="2203704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May 2014 – May 2015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475488" y="2587752"/>
            <a:ext cx="3703320" cy="365760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594360" y="263347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Missing values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1828800" y="263347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No imputation needed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475488" y="3017520"/>
            <a:ext cx="3703320" cy="36576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"/>
          <p:cNvSpPr/>
          <p:nvPr/>
        </p:nvSpPr>
        <p:spPr>
          <a:xfrm>
            <a:off x="594360" y="306324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Price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1828800" y="306324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$78,000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475488" y="3447288"/>
            <a:ext cx="3703320" cy="365760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"/>
          <p:cNvSpPr/>
          <p:nvPr/>
        </p:nvSpPr>
        <p:spPr>
          <a:xfrm>
            <a:off x="594360" y="34930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Price median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1828800" y="3493008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$450,000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475488" y="3877056"/>
            <a:ext cx="3703320" cy="36576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594360" y="3922776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Price mean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1828800" y="3922776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$540,198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475488" y="4306824"/>
            <a:ext cx="3703320" cy="365760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594360" y="43525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Price max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1828800" y="4352544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$7,700,000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4526280" y="804672"/>
            <a:ext cx="4297680" cy="40416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4526280" y="804672"/>
            <a:ext cx="54864" cy="4041648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4727448" y="896112"/>
            <a:ext cx="3931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Cleaning Decisions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727448" y="1298448"/>
            <a:ext cx="3977640" cy="274320"/>
          </a:xfrm>
          <a:prstGeom prst="rect">
            <a:avLst/>
          </a:prstGeom>
          <a:solidFill>
            <a:srgbClr val="FDECEA"/>
          </a:solidFill>
          <a:ln cap="flat" cmpd="sng" w="12700">
            <a:solidFill>
              <a:srgbClr val="FDEC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"/>
          <p:cNvSpPr/>
          <p:nvPr/>
        </p:nvSpPr>
        <p:spPr>
          <a:xfrm>
            <a:off x="4773168" y="1316736"/>
            <a:ext cx="3886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Removed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4727448" y="1645920"/>
            <a:ext cx="3977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bedrooms = 33 — data entry error (sqft_living doesn't match)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727448" y="2066544"/>
            <a:ext cx="3977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bedrooms = 0 or bathrooms = 0 — likely land plots, not houses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4727448" y="2542032"/>
            <a:ext cx="3977640" cy="274320"/>
          </a:xfrm>
          <a:prstGeom prst="rect">
            <a:avLst/>
          </a:prstGeom>
          <a:solidFill>
            <a:srgbClr val="D4EDDF"/>
          </a:solidFill>
          <a:ln cap="flat" cmpd="sng" w="12700">
            <a:solidFill>
              <a:srgbClr val="D4ED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"/>
          <p:cNvSpPr/>
          <p:nvPr/>
        </p:nvSpPr>
        <p:spPr>
          <a:xfrm>
            <a:off x="4773168" y="2560320"/>
            <a:ext cx="3886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Kept as-is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4727448" y="2889504"/>
            <a:ext cx="3977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sqft_basement = 0 — normal, many houses have no basement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4727448" y="3310128"/>
            <a:ext cx="3977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yr_renovated = 0 — normal, means never renovated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727448" y="3730752"/>
            <a:ext cx="3977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Large lots, high prices — real market data, not errors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4581150" y="4506974"/>
            <a:ext cx="4242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Targeted cleaning based on domain logic — not blanket IQR removal.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365760" y="73152"/>
            <a:ext cx="6400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· EDA — Key Findings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65760" y="73152"/>
            <a:ext cx="8412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274320" y="804672"/>
            <a:ext cx="2697480" cy="1783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274320" y="804672"/>
            <a:ext cx="2697480" cy="457200"/>
          </a:xfrm>
          <a:prstGeom prst="rect">
            <a:avLst/>
          </a:prstGeom>
          <a:solidFill>
            <a:srgbClr val="FDE8D8"/>
          </a:solidFill>
          <a:ln cap="flat" cmpd="sng" w="12700">
            <a:solidFill>
              <a:srgbClr val="FDE8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"/>
          <p:cNvSpPr/>
          <p:nvPr/>
        </p:nvSpPr>
        <p:spPr>
          <a:xfrm>
            <a:off x="365760" y="822960"/>
            <a:ext cx="2514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📈  Price is Right-Skewed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365760" y="1335024"/>
            <a:ext cx="2514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Skewness: 4.026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365760" y="1755648"/>
            <a:ext cx="2514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Log-transform reduces to 0.430 — needed for linear models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3172968" y="804672"/>
            <a:ext cx="2697480" cy="1783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3172968" y="804672"/>
            <a:ext cx="2697480" cy="457200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3264408" y="822960"/>
            <a:ext cx="2514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BA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E5BA8"/>
                </a:solidFill>
                <a:latin typeface="Calibri"/>
                <a:ea typeface="Calibri"/>
                <a:cs typeface="Calibri"/>
                <a:sym typeface="Calibri"/>
              </a:rPr>
              <a:t>🏠  sqft_living Dominates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3264408" y="1335024"/>
            <a:ext cx="2514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 = 0.702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3264408" y="1755648"/>
            <a:ext cx="2514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Highest linear correlation with price among all raw features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71616" y="804672"/>
            <a:ext cx="2697480" cy="1783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6071616" y="804672"/>
            <a:ext cx="2697480" cy="457200"/>
          </a:xfrm>
          <a:prstGeom prst="rect">
            <a:avLst/>
          </a:prstGeom>
          <a:solidFill>
            <a:srgbClr val="E0F4F6"/>
          </a:solidFill>
          <a:ln cap="flat" cmpd="sng" w="12700">
            <a:solidFill>
              <a:srgbClr val="E0F4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163056" y="822960"/>
            <a:ext cx="2514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🌊  Waterfront Premium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6163056" y="1335024"/>
            <a:ext cx="25146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~3× price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163056" y="1755648"/>
            <a:ext cx="2514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Waterfront properties command dramatically higher prices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274320" y="2743200"/>
            <a:ext cx="4114800" cy="217627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274320" y="2743200"/>
            <a:ext cx="54864" cy="2176272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457200" y="2834640"/>
            <a:ext cx="37947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Top Correlations with 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1508760" y="3264408"/>
            <a:ext cx="1797345" cy="182880"/>
          </a:xfrm>
          <a:prstGeom prst="rect">
            <a:avLst/>
          </a:prstGeom>
          <a:solidFill>
            <a:srgbClr val="2E5BA8">
              <a:alpha val="70196"/>
            </a:srgbClr>
          </a:solidFill>
          <a:ln cap="flat" cmpd="sng" w="12700">
            <a:solidFill>
              <a:srgbClr val="2E5BA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"/>
          <p:cNvSpPr/>
          <p:nvPr/>
        </p:nvSpPr>
        <p:spPr>
          <a:xfrm>
            <a:off x="457200" y="321868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sqft_living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3351825" y="3218688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0.702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1508760" y="3538728"/>
            <a:ext cx="1710294" cy="182880"/>
          </a:xfrm>
          <a:prstGeom prst="rect">
            <a:avLst/>
          </a:prstGeom>
          <a:solidFill>
            <a:srgbClr val="2E5BA8">
              <a:alpha val="70196"/>
            </a:srgbClr>
          </a:solidFill>
          <a:ln cap="flat" cmpd="sng" w="12700">
            <a:solidFill>
              <a:srgbClr val="2E5BA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4"/>
          <p:cNvSpPr/>
          <p:nvPr/>
        </p:nvSpPr>
        <p:spPr>
          <a:xfrm>
            <a:off x="457200" y="34930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grade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3264774" y="3493008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0.668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1508760" y="3813048"/>
            <a:ext cx="1548994" cy="182880"/>
          </a:xfrm>
          <a:prstGeom prst="rect">
            <a:avLst/>
          </a:prstGeom>
          <a:solidFill>
            <a:srgbClr val="2E5BA8">
              <a:alpha val="70196"/>
            </a:srgbClr>
          </a:solidFill>
          <a:ln cap="flat" cmpd="sng" w="12700">
            <a:solidFill>
              <a:srgbClr val="2E5BA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457200" y="376732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sqft_above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3103474" y="3767328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0.605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1508760" y="4087368"/>
            <a:ext cx="1497787" cy="182880"/>
          </a:xfrm>
          <a:prstGeom prst="rect">
            <a:avLst/>
          </a:prstGeom>
          <a:solidFill>
            <a:srgbClr val="2E5BA8">
              <a:alpha val="70196"/>
            </a:srgbClr>
          </a:solidFill>
          <a:ln cap="flat" cmpd="sng" w="12700">
            <a:solidFill>
              <a:srgbClr val="2E5BA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4"/>
          <p:cNvSpPr/>
          <p:nvPr/>
        </p:nvSpPr>
        <p:spPr>
          <a:xfrm>
            <a:off x="457200" y="404164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sqft_living15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3052267" y="4041648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0.585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1508760" y="4361688"/>
            <a:ext cx="1346728" cy="182880"/>
          </a:xfrm>
          <a:prstGeom prst="rect">
            <a:avLst/>
          </a:prstGeom>
          <a:solidFill>
            <a:srgbClr val="2E5BA8">
              <a:alpha val="70196"/>
            </a:srgbClr>
          </a:solidFill>
          <a:ln cap="flat" cmpd="sng" w="12700">
            <a:solidFill>
              <a:srgbClr val="2E5BA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4"/>
          <p:cNvSpPr/>
          <p:nvPr/>
        </p:nvSpPr>
        <p:spPr>
          <a:xfrm>
            <a:off x="457200" y="43159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bathrooms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2901208" y="4315968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0.526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1508760" y="4636008"/>
            <a:ext cx="1016447" cy="182880"/>
          </a:xfrm>
          <a:prstGeom prst="rect">
            <a:avLst/>
          </a:prstGeom>
          <a:solidFill>
            <a:srgbClr val="2E5BA8">
              <a:alpha val="70196"/>
            </a:srgbClr>
          </a:solidFill>
          <a:ln cap="flat" cmpd="sng" w="12700">
            <a:solidFill>
              <a:srgbClr val="2E5BA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4"/>
          <p:cNvSpPr/>
          <p:nvPr/>
        </p:nvSpPr>
        <p:spPr>
          <a:xfrm>
            <a:off x="457200" y="459028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2570927" y="4590288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0.397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4617720" y="2743200"/>
            <a:ext cx="4206240" cy="217627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4617720" y="2743200"/>
            <a:ext cx="54864" cy="2176272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4800600" y="2834640"/>
            <a:ext cx="388620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Luxury vs Standard Segment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4800600" y="3218688"/>
            <a:ext cx="1261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6099048" y="3218688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Standard &lt;$650K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7397496" y="3218688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Luxury ≥$650K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4800600" y="3511296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Count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6099048" y="3474720"/>
            <a:ext cx="1261872" cy="27432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4"/>
          <p:cNvSpPr/>
          <p:nvPr/>
        </p:nvSpPr>
        <p:spPr>
          <a:xfrm>
            <a:off x="6099048" y="3511296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16,274 (75.4%)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7397496" y="3474720"/>
            <a:ext cx="1261872" cy="27432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4"/>
          <p:cNvSpPr/>
          <p:nvPr/>
        </p:nvSpPr>
        <p:spPr>
          <a:xfrm>
            <a:off x="7397496" y="3511296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5,322 (24.6%)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4800600" y="3803904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sqft_living avg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6099048" y="3767328"/>
            <a:ext cx="1261872" cy="274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4"/>
          <p:cNvSpPr/>
          <p:nvPr/>
        </p:nvSpPr>
        <p:spPr>
          <a:xfrm>
            <a:off x="6099048" y="3803904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1,680 sqft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7397496" y="3767328"/>
            <a:ext cx="1261872" cy="274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7397496" y="3803904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2,895 sqft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4800600" y="4096512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Grade avg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6099048" y="4059936"/>
            <a:ext cx="1261872" cy="27432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4"/>
          <p:cNvSpPr/>
          <p:nvPr/>
        </p:nvSpPr>
        <p:spPr>
          <a:xfrm>
            <a:off x="6099048" y="4096512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7.1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7397496" y="4059936"/>
            <a:ext cx="1261872" cy="27432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4"/>
          <p:cNvSpPr/>
          <p:nvPr/>
        </p:nvSpPr>
        <p:spPr>
          <a:xfrm>
            <a:off x="7397496" y="4096512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9.2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4800600" y="4389120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Bathrooms avg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"/>
          <p:cNvSpPr/>
          <p:nvPr/>
        </p:nvSpPr>
        <p:spPr>
          <a:xfrm>
            <a:off x="6099048" y="4352544"/>
            <a:ext cx="1261872" cy="274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4"/>
          <p:cNvSpPr/>
          <p:nvPr/>
        </p:nvSpPr>
        <p:spPr>
          <a:xfrm>
            <a:off x="6099048" y="4389120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1.9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7397496" y="4352544"/>
            <a:ext cx="1261872" cy="274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"/>
          <p:cNvSpPr/>
          <p:nvPr/>
        </p:nvSpPr>
        <p:spPr>
          <a:xfrm>
            <a:off x="7397496" y="4389120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2.8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4800600" y="4681728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Waterfront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4"/>
          <p:cNvSpPr/>
          <p:nvPr/>
        </p:nvSpPr>
        <p:spPr>
          <a:xfrm>
            <a:off x="6099048" y="4645152"/>
            <a:ext cx="1261872" cy="27432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4"/>
          <p:cNvSpPr/>
          <p:nvPr/>
        </p:nvSpPr>
        <p:spPr>
          <a:xfrm>
            <a:off x="6099048" y="4681728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0.4%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7397496" y="4645152"/>
            <a:ext cx="1261872" cy="274320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4"/>
          <p:cNvSpPr/>
          <p:nvPr/>
        </p:nvSpPr>
        <p:spPr>
          <a:xfrm>
            <a:off x="7397496" y="4681728"/>
            <a:ext cx="126187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4.1%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g3d1567f9e47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663" y="946150"/>
            <a:ext cx="3528501" cy="1308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1567f9e47_1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3625" y="842500"/>
            <a:ext cx="2528402" cy="2305574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g3d1567f9e47_1_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d1567f9e47_1_0"/>
          <p:cNvSpPr/>
          <p:nvPr/>
        </p:nvSpPr>
        <p:spPr>
          <a:xfrm>
            <a:off x="365760" y="73152"/>
            <a:ext cx="8412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g3d1567f9e47_1_0"/>
          <p:cNvSpPr/>
          <p:nvPr/>
        </p:nvSpPr>
        <p:spPr>
          <a:xfrm>
            <a:off x="365760" y="73152"/>
            <a:ext cx="8412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g3d1567f9e47_1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3" y="2597000"/>
            <a:ext cx="3661314" cy="226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g3d1567f9e47_1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51375" y="3148075"/>
            <a:ext cx="5281498" cy="1746726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g3d1567f9e47_1_0"/>
          <p:cNvSpPr/>
          <p:nvPr/>
        </p:nvSpPr>
        <p:spPr>
          <a:xfrm>
            <a:off x="262557" y="22800"/>
            <a:ext cx="6455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EDA - Visualizations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1567f9e47_1_1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d1567f9e47_1_11"/>
          <p:cNvSpPr/>
          <p:nvPr/>
        </p:nvSpPr>
        <p:spPr>
          <a:xfrm>
            <a:off x="365760" y="73152"/>
            <a:ext cx="8412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g3d1567f9e47_1_11"/>
          <p:cNvSpPr/>
          <p:nvPr/>
        </p:nvSpPr>
        <p:spPr>
          <a:xfrm>
            <a:off x="365760" y="73152"/>
            <a:ext cx="8412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g3d1567f9e47_1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7175" y="877875"/>
            <a:ext cx="5254225" cy="187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g3d1567f9e47_1_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7850" y="2964775"/>
            <a:ext cx="2617296" cy="165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g3d1567f9e47_1_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61125" y="2943749"/>
            <a:ext cx="2222576" cy="1700476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g3d1567f9e47_1_11"/>
          <p:cNvSpPr/>
          <p:nvPr/>
        </p:nvSpPr>
        <p:spPr>
          <a:xfrm>
            <a:off x="262557" y="22800"/>
            <a:ext cx="6455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EDA - Visualizations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5"/>
          <p:cNvSpPr/>
          <p:nvPr/>
        </p:nvSpPr>
        <p:spPr>
          <a:xfrm>
            <a:off x="365760" y="73152"/>
            <a:ext cx="6400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03–04 · Feature Engineering &amp; Preprocessing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365760" y="73152"/>
            <a:ext cx="8412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274320" y="804672"/>
            <a:ext cx="4160520" cy="40416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5"/>
          <p:cNvSpPr/>
          <p:nvPr/>
        </p:nvSpPr>
        <p:spPr>
          <a:xfrm>
            <a:off x="274320" y="804672"/>
            <a:ext cx="54864" cy="4041648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5"/>
          <p:cNvSpPr/>
          <p:nvPr/>
        </p:nvSpPr>
        <p:spPr>
          <a:xfrm>
            <a:off x="475488" y="8961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7 New Features Created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475488" y="1316736"/>
            <a:ext cx="3794760" cy="402336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5"/>
          <p:cNvSpPr/>
          <p:nvPr/>
        </p:nvSpPr>
        <p:spPr>
          <a:xfrm>
            <a:off x="594360" y="137160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house_age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2331720" y="1371600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sale_year − yr_built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475488" y="1792224"/>
            <a:ext cx="3794760" cy="402336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5"/>
          <p:cNvSpPr/>
          <p:nvPr/>
        </p:nvSpPr>
        <p:spPr>
          <a:xfrm>
            <a:off x="594360" y="1847088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was_renovated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2331720" y="184708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Binary: renovated or not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5"/>
          <p:cNvSpPr/>
          <p:nvPr/>
        </p:nvSpPr>
        <p:spPr>
          <a:xfrm>
            <a:off x="475488" y="2267712"/>
            <a:ext cx="3794760" cy="402336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5"/>
          <p:cNvSpPr/>
          <p:nvPr/>
        </p:nvSpPr>
        <p:spPr>
          <a:xfrm>
            <a:off x="594360" y="2322576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years_since_reno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5"/>
          <p:cNvSpPr/>
          <p:nvPr/>
        </p:nvSpPr>
        <p:spPr>
          <a:xfrm>
            <a:off x="2331720" y="2322576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Recency of last renovation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5"/>
          <p:cNvSpPr/>
          <p:nvPr/>
        </p:nvSpPr>
        <p:spPr>
          <a:xfrm>
            <a:off x="475488" y="2743200"/>
            <a:ext cx="3794760" cy="402336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5"/>
          <p:cNvSpPr/>
          <p:nvPr/>
        </p:nvSpPr>
        <p:spPr>
          <a:xfrm>
            <a:off x="594360" y="2798064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has_basement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5"/>
          <p:cNvSpPr/>
          <p:nvPr/>
        </p:nvSpPr>
        <p:spPr>
          <a:xfrm>
            <a:off x="2331720" y="2798064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Binary: basement present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475488" y="3218688"/>
            <a:ext cx="3794760" cy="402336"/>
          </a:xfrm>
          <a:prstGeom prst="rect">
            <a:avLst/>
          </a:prstGeom>
          <a:solidFill>
            <a:srgbClr val="F1F4F8"/>
          </a:solidFill>
          <a:ln cap="flat" cmpd="sng" w="12700">
            <a:solidFill>
              <a:srgbClr val="F1F4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5"/>
          <p:cNvSpPr/>
          <p:nvPr/>
        </p:nvSpPr>
        <p:spPr>
          <a:xfrm>
            <a:off x="594360" y="327355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living_vs_neighbors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2331720" y="3273552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sqft_living / sqft_living15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"/>
          <p:cNvSpPr/>
          <p:nvPr/>
        </p:nvSpPr>
        <p:spPr>
          <a:xfrm>
            <a:off x="475488" y="3694176"/>
            <a:ext cx="3794760" cy="402336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5"/>
          <p:cNvSpPr/>
          <p:nvPr/>
        </p:nvSpPr>
        <p:spPr>
          <a:xfrm>
            <a:off x="594360" y="3749040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sale_month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2331720" y="3749040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Seasonal price variation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475488" y="4169664"/>
            <a:ext cx="3794760" cy="402336"/>
          </a:xfrm>
          <a:prstGeom prst="rect">
            <a:avLst/>
          </a:prstGeom>
          <a:solidFill>
            <a:srgbClr val="FDE8D8"/>
          </a:solidFill>
          <a:ln cap="flat" cmpd="sng" w="12700">
            <a:solidFill>
              <a:srgbClr val="FDE8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5"/>
          <p:cNvSpPr/>
          <p:nvPr/>
        </p:nvSpPr>
        <p:spPr>
          <a:xfrm>
            <a:off x="594360" y="4224528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lot_utilization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2331720" y="422452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EDA only — not used in model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475488" y="4626864"/>
            <a:ext cx="3794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price_per_sqft also computed for EDA only — both excluded to avoid data leakage.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4663440" y="804672"/>
            <a:ext cx="4160520" cy="40416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5"/>
          <p:cNvSpPr/>
          <p:nvPr/>
        </p:nvSpPr>
        <p:spPr>
          <a:xfrm>
            <a:off x="4663440" y="804672"/>
            <a:ext cx="54864" cy="4041648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5"/>
          <p:cNvSpPr/>
          <p:nvPr/>
        </p:nvSpPr>
        <p:spPr>
          <a:xfrm>
            <a:off x="4864608" y="8961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Preprocessing Pipeline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5"/>
          <p:cNvSpPr/>
          <p:nvPr/>
        </p:nvSpPr>
        <p:spPr>
          <a:xfrm>
            <a:off x="4864608" y="1316736"/>
            <a:ext cx="3794760" cy="7315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5"/>
          <p:cNvSpPr/>
          <p:nvPr/>
        </p:nvSpPr>
        <p:spPr>
          <a:xfrm>
            <a:off x="4864608" y="1316736"/>
            <a:ext cx="347472" cy="731520"/>
          </a:xfrm>
          <a:prstGeom prst="rect">
            <a:avLst/>
          </a:prstGeom>
          <a:solidFill>
            <a:srgbClr val="FDE8D8"/>
          </a:solidFill>
          <a:ln cap="flat" cmpd="sng" w="12700">
            <a:solidFill>
              <a:srgbClr val="FDE8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5"/>
          <p:cNvSpPr/>
          <p:nvPr/>
        </p:nvSpPr>
        <p:spPr>
          <a:xfrm>
            <a:off x="4864608" y="1481328"/>
            <a:ext cx="3474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5321808" y="1371600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Log-transform target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5321808" y="1664208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Skewness: 4.026 → 0.430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Back-transform with np.expm1() for metrics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4864608" y="2157984"/>
            <a:ext cx="3794760" cy="7315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5"/>
          <p:cNvSpPr/>
          <p:nvPr/>
        </p:nvSpPr>
        <p:spPr>
          <a:xfrm>
            <a:off x="4864608" y="2157984"/>
            <a:ext cx="347472" cy="731520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EBF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5"/>
          <p:cNvSpPr/>
          <p:nvPr/>
        </p:nvSpPr>
        <p:spPr>
          <a:xfrm>
            <a:off x="4864608" y="2322576"/>
            <a:ext cx="3474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5BA8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2E5BA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5321808" y="2212848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Train / Test Split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5321808" y="2505456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80% train (17,276)  ·  20% test (4,320)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random_state=42 for reproducibility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4864608" y="2999232"/>
            <a:ext cx="3794760" cy="7315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5"/>
          <p:cNvSpPr/>
          <p:nvPr/>
        </p:nvSpPr>
        <p:spPr>
          <a:xfrm>
            <a:off x="4864608" y="2999232"/>
            <a:ext cx="347472" cy="731520"/>
          </a:xfrm>
          <a:prstGeom prst="rect">
            <a:avLst/>
          </a:prstGeom>
          <a:solidFill>
            <a:srgbClr val="E0F4F6"/>
          </a:solidFill>
          <a:ln cap="flat" cmpd="sng" w="12700">
            <a:solidFill>
              <a:srgbClr val="E0F4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5"/>
          <p:cNvSpPr/>
          <p:nvPr/>
        </p:nvSpPr>
        <p:spPr>
          <a:xfrm>
            <a:off x="4864608" y="3163824"/>
            <a:ext cx="3474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5321808" y="3054096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StandardScaler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5321808" y="3346704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Fit on train ONLY → transform both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Prevents data leakage from test set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4864608" y="3840480"/>
            <a:ext cx="3794760" cy="7315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5"/>
          <p:cNvSpPr/>
          <p:nvPr/>
        </p:nvSpPr>
        <p:spPr>
          <a:xfrm>
            <a:off x="4864608" y="3840480"/>
            <a:ext cx="347472" cy="731520"/>
          </a:xfrm>
          <a:prstGeom prst="rect">
            <a:avLst/>
          </a:prstGeom>
          <a:solidFill>
            <a:srgbClr val="D4EDDF"/>
          </a:solidFill>
          <a:ln cap="flat" cmpd="sng" w="12700">
            <a:solidFill>
              <a:srgbClr val="D4ED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5"/>
          <p:cNvSpPr/>
          <p:nvPr/>
        </p:nvSpPr>
        <p:spPr>
          <a:xfrm>
            <a:off x="4864608" y="4005072"/>
            <a:ext cx="3474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5321808" y="3895344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No null imputation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5321808" y="4187952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 missing values in dataset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Step skipped entirely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6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6"/>
          <p:cNvSpPr/>
          <p:nvPr/>
        </p:nvSpPr>
        <p:spPr>
          <a:xfrm>
            <a:off x="365760" y="73152"/>
            <a:ext cx="6400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· Model Selection &amp; Comparison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365760" y="73152"/>
            <a:ext cx="8412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 models trained on log(price) — metrics evaluated on back-transformed dollar predictions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6"/>
          <p:cNvSpPr/>
          <p:nvPr/>
        </p:nvSpPr>
        <p:spPr>
          <a:xfrm>
            <a:off x="274320" y="1207008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R² Score </a:t>
            </a: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(higher = better)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6"/>
          <p:cNvSpPr/>
          <p:nvPr/>
        </p:nvSpPr>
        <p:spPr>
          <a:xfrm>
            <a:off x="5623560" y="1207008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RMSE &amp; MAE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6"/>
          <p:cNvSpPr/>
          <p:nvPr/>
        </p:nvSpPr>
        <p:spPr>
          <a:xfrm>
            <a:off x="256032" y="1481328"/>
            <a:ext cx="8631936" cy="621792"/>
          </a:xfrm>
          <a:prstGeom prst="rect">
            <a:avLst/>
          </a:prstGeom>
          <a:solidFill>
            <a:srgbClr val="EBF2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6"/>
          <p:cNvSpPr/>
          <p:nvPr/>
        </p:nvSpPr>
        <p:spPr>
          <a:xfrm>
            <a:off x="320040" y="1572768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Gradient Boosting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6"/>
          <p:cNvSpPr/>
          <p:nvPr/>
        </p:nvSpPr>
        <p:spPr>
          <a:xfrm>
            <a:off x="2331720" y="1627632"/>
            <a:ext cx="2235379" cy="237744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6"/>
          <p:cNvSpPr/>
          <p:nvPr/>
        </p:nvSpPr>
        <p:spPr>
          <a:xfrm>
            <a:off x="4612819" y="157276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0.7408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6"/>
          <p:cNvSpPr/>
          <p:nvPr/>
        </p:nvSpPr>
        <p:spPr>
          <a:xfrm>
            <a:off x="5623560" y="1627632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RMSE: $184,198  |  MAE: $119,308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>
            <a:off x="320040" y="2194560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6"/>
          <p:cNvSpPr/>
          <p:nvPr/>
        </p:nvSpPr>
        <p:spPr>
          <a:xfrm>
            <a:off x="2331720" y="2249424"/>
            <a:ext cx="2193134" cy="237744"/>
          </a:xfrm>
          <a:prstGeom prst="rect">
            <a:avLst/>
          </a:prstGeom>
          <a:solidFill>
            <a:srgbClr val="2E5BA8"/>
          </a:solidFill>
          <a:ln cap="flat" cmpd="sng" w="12700">
            <a:solidFill>
              <a:srgbClr val="2E5B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6"/>
          <p:cNvSpPr/>
          <p:nvPr/>
        </p:nvSpPr>
        <p:spPr>
          <a:xfrm>
            <a:off x="4570574" y="219456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5BA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E5BA8"/>
                </a:solidFill>
                <a:latin typeface="Calibri"/>
                <a:ea typeface="Calibri"/>
                <a:cs typeface="Calibri"/>
                <a:sym typeface="Calibri"/>
              </a:rPr>
              <a:t>0.7268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6"/>
          <p:cNvSpPr/>
          <p:nvPr/>
        </p:nvSpPr>
        <p:spPr>
          <a:xfrm>
            <a:off x="5623560" y="2249424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RMSE: $189,096  |  MAE: $114,498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6"/>
          <p:cNvSpPr/>
          <p:nvPr/>
        </p:nvSpPr>
        <p:spPr>
          <a:xfrm>
            <a:off x="320040" y="2816352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Lasso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6"/>
          <p:cNvSpPr/>
          <p:nvPr/>
        </p:nvSpPr>
        <p:spPr>
          <a:xfrm>
            <a:off x="2331720" y="2871216"/>
            <a:ext cx="2126748" cy="23774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6"/>
          <p:cNvSpPr/>
          <p:nvPr/>
        </p:nvSpPr>
        <p:spPr>
          <a:xfrm>
            <a:off x="4504188" y="2816352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0.7048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6"/>
          <p:cNvSpPr/>
          <p:nvPr/>
        </p:nvSpPr>
        <p:spPr>
          <a:xfrm>
            <a:off x="5623560" y="2871216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RMSE: $196,553  |  MAE: $129,807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320040" y="3438144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Ridge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6"/>
          <p:cNvSpPr/>
          <p:nvPr/>
        </p:nvSpPr>
        <p:spPr>
          <a:xfrm>
            <a:off x="2331720" y="3493008"/>
            <a:ext cx="2123429" cy="23774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6"/>
          <p:cNvSpPr/>
          <p:nvPr/>
        </p:nvSpPr>
        <p:spPr>
          <a:xfrm>
            <a:off x="4500869" y="343814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0.7037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6"/>
          <p:cNvSpPr/>
          <p:nvPr/>
        </p:nvSpPr>
        <p:spPr>
          <a:xfrm>
            <a:off x="5623560" y="3493008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RMSE: $196,930  |  MAE: $129,942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6"/>
          <p:cNvSpPr/>
          <p:nvPr/>
        </p:nvSpPr>
        <p:spPr>
          <a:xfrm>
            <a:off x="320040" y="4059936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Linear Regression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6"/>
          <p:cNvSpPr/>
          <p:nvPr/>
        </p:nvSpPr>
        <p:spPr>
          <a:xfrm>
            <a:off x="2331720" y="4114800"/>
            <a:ext cx="2123429" cy="237744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6"/>
          <p:cNvSpPr/>
          <p:nvPr/>
        </p:nvSpPr>
        <p:spPr>
          <a:xfrm>
            <a:off x="4500869" y="4059936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0.7037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6"/>
          <p:cNvSpPr/>
          <p:nvPr/>
        </p:nvSpPr>
        <p:spPr>
          <a:xfrm>
            <a:off x="5623560" y="4114800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RMSE: $196,941  |  MAE: $129,944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6"/>
          <p:cNvSpPr/>
          <p:nvPr/>
        </p:nvSpPr>
        <p:spPr>
          <a:xfrm>
            <a:off x="274320" y="4645152"/>
            <a:ext cx="8595360" cy="347472"/>
          </a:xfrm>
          <a:prstGeom prst="rect">
            <a:avLst/>
          </a:prstGeom>
          <a:solidFill>
            <a:srgbClr val="EBF2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6"/>
          <p:cNvSpPr/>
          <p:nvPr/>
        </p:nvSpPr>
        <p:spPr>
          <a:xfrm>
            <a:off x="411480" y="4690872"/>
            <a:ext cx="8321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Why Gradient Boosting?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Sequentially corrects errors from prior trees. Captures non-linear interactions (e.g. grade × sqft). No distribution assumptions. +14pp R² vs linear baseline.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7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365760" y="73152"/>
            <a:ext cx="6400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 · Results, Feature Importance &amp; Luxury Segment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/>
          <p:nvPr/>
        </p:nvSpPr>
        <p:spPr>
          <a:xfrm>
            <a:off x="365760" y="73152"/>
            <a:ext cx="8412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King County House Price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/>
          <p:nvPr/>
        </p:nvSpPr>
        <p:spPr>
          <a:xfrm>
            <a:off x="274320" y="804672"/>
            <a:ext cx="2011680" cy="10789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274320" y="841248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0.7408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274320" y="1335024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R² Overall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274320" y="1572768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74% variance explained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2450592" y="804672"/>
            <a:ext cx="2011680" cy="10789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7"/>
          <p:cNvSpPr/>
          <p:nvPr/>
        </p:nvSpPr>
        <p:spPr>
          <a:xfrm>
            <a:off x="2450592" y="841248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$184K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/>
          <p:nvPr/>
        </p:nvSpPr>
        <p:spPr>
          <a:xfrm>
            <a:off x="2450592" y="1335024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 Overall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2450592" y="1572768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 original price scale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4626864" y="804672"/>
            <a:ext cx="2011680" cy="1078992"/>
          </a:xfrm>
          <a:prstGeom prst="rect">
            <a:avLst/>
          </a:prstGeom>
          <a:solidFill>
            <a:srgbClr val="FDE8D8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7"/>
          <p:cNvSpPr/>
          <p:nvPr/>
        </p:nvSpPr>
        <p:spPr>
          <a:xfrm>
            <a:off x="4626864" y="841248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0.5631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/>
          <p:nvPr/>
        </p:nvSpPr>
        <p:spPr>
          <a:xfrm>
            <a:off x="4626864" y="1335024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R² Luxury ≥$650K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4626864" y="1572768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1,025 test houses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6803136" y="804672"/>
            <a:ext cx="2011680" cy="1078992"/>
          </a:xfrm>
          <a:prstGeom prst="rect">
            <a:avLst/>
          </a:prstGeom>
          <a:solidFill>
            <a:srgbClr val="FDE8D8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7"/>
          <p:cNvSpPr/>
          <p:nvPr/>
        </p:nvSpPr>
        <p:spPr>
          <a:xfrm>
            <a:off x="6803136" y="841248"/>
            <a:ext cx="2011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$314K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6803136" y="1335024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RMSE Luxury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/>
          <p:nvPr/>
        </p:nvSpPr>
        <p:spPr>
          <a:xfrm>
            <a:off x="6803136" y="1572768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Higher variance segment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274320" y="2029968"/>
            <a:ext cx="4160520" cy="2816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7"/>
          <p:cNvSpPr/>
          <p:nvPr/>
        </p:nvSpPr>
        <p:spPr>
          <a:xfrm>
            <a:off x="274320" y="2029968"/>
            <a:ext cx="54864" cy="2816352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7"/>
          <p:cNvSpPr/>
          <p:nvPr/>
        </p:nvSpPr>
        <p:spPr>
          <a:xfrm>
            <a:off x="475488" y="2121408"/>
            <a:ext cx="37947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Feature Importances (Gradient Boosting)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7"/>
          <p:cNvSpPr/>
          <p:nvPr/>
        </p:nvSpPr>
        <p:spPr>
          <a:xfrm>
            <a:off x="4663440" y="2029968"/>
            <a:ext cx="4160400" cy="281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7"/>
          <p:cNvSpPr/>
          <p:nvPr/>
        </p:nvSpPr>
        <p:spPr>
          <a:xfrm>
            <a:off x="4663440" y="2029968"/>
            <a:ext cx="54864" cy="2816352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7"/>
          <p:cNvSpPr/>
          <p:nvPr/>
        </p:nvSpPr>
        <p:spPr>
          <a:xfrm>
            <a:off x="4864608" y="2121408"/>
            <a:ext cx="37947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7"/>
          <p:cNvSpPr/>
          <p:nvPr/>
        </p:nvSpPr>
        <p:spPr>
          <a:xfrm>
            <a:off x="4864608" y="251460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⭐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grade ranks #1 in importance (40.9%) despite r=0.668 — non-linear multiplier effect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7"/>
          <p:cNvSpPr/>
          <p:nvPr/>
        </p:nvSpPr>
        <p:spPr>
          <a:xfrm>
            <a:off x="4864608" y="2907792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📐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sqft_living is #2 (33.4%) — consistent with highest linear correlation (r=0.702)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7"/>
          <p:cNvSpPr/>
          <p:nvPr/>
        </p:nvSpPr>
        <p:spPr>
          <a:xfrm>
            <a:off x="4864608" y="3300984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🏗️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house_age (#3, 9.9%) not in raw data — confirms value of feature engineering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4864608" y="3694176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🌊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waterfront only 0.9% importance despite 3× price premium — rare in test set (n&lt;50)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/>
          <p:nvPr/>
        </p:nvSpPr>
        <p:spPr>
          <a:xfrm>
            <a:off x="4864608" y="408736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⚠️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Luxury R² drops from 0.74 → 0.56 — idiosyncratic pricing not captured by standard features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7"/>
          <p:cNvSpPr/>
          <p:nvPr/>
        </p:nvSpPr>
        <p:spPr>
          <a:xfrm>
            <a:off x="4864608" y="448056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💡  </a:t>
            </a: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Separate dedicated model recommended for the luxury segment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7" name="Google Shape;347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663" y="2348600"/>
            <a:ext cx="3553838" cy="247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8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D1B4B"/>
          </a:solidFill>
          <a:ln cap="flat" cmpd="sng" w="12700">
            <a:solidFill>
              <a:srgbClr val="0D1B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8"/>
          <p:cNvSpPr/>
          <p:nvPr/>
        </p:nvSpPr>
        <p:spPr>
          <a:xfrm>
            <a:off x="228600" y="457200"/>
            <a:ext cx="41148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8"/>
          <p:cNvSpPr/>
          <p:nvPr/>
        </p:nvSpPr>
        <p:spPr>
          <a:xfrm>
            <a:off x="228600" y="960120"/>
            <a:ext cx="1371600" cy="45720"/>
          </a:xfrm>
          <a:prstGeom prst="rect">
            <a:avLst/>
          </a:prstGeom>
          <a:solidFill>
            <a:srgbClr val="E8843A"/>
          </a:solidFill>
          <a:ln cap="flat" cmpd="sng" w="12700">
            <a:solidFill>
              <a:srgbClr val="E884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8"/>
          <p:cNvSpPr/>
          <p:nvPr/>
        </p:nvSpPr>
        <p:spPr>
          <a:xfrm>
            <a:off x="201168" y="1143000"/>
            <a:ext cx="4251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Gradient Boosting best model: R²=0.74, RMSE=$184K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8"/>
          <p:cNvSpPr/>
          <p:nvPr/>
        </p:nvSpPr>
        <p:spPr>
          <a:xfrm>
            <a:off x="201168" y="1737360"/>
            <a:ext cx="4251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grade is the #1 driver (40.9%) — non-linear multiplier effect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201168" y="2331720"/>
            <a:ext cx="4251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Log-transforming price is critical: skewness 4.026 → 0.430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201168" y="2926080"/>
            <a:ext cx="4251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house_age (#3) validates feature engineering value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/>
          <p:nvPr/>
        </p:nvSpPr>
        <p:spPr>
          <a:xfrm>
            <a:off x="201168" y="3520440"/>
            <a:ext cx="4251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Luxury segment (24.6%) harder to predict: R²=0.56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8"/>
          <p:cNvSpPr/>
          <p:nvPr/>
        </p:nvSpPr>
        <p:spPr>
          <a:xfrm>
            <a:off x="201168" y="4114800"/>
            <a:ext cx="4251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84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843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Targeted cleaning beats blanket outlier removal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8"/>
          <p:cNvSpPr/>
          <p:nvPr/>
        </p:nvSpPr>
        <p:spPr>
          <a:xfrm>
            <a:off x="4846320" y="4773168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Dataset: Kaggle — King County Houses  ·  minasameh55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4" name="Google Shape;364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3925" y="988238"/>
            <a:ext cx="4267199" cy="3217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2026-03-18T15:47:07Z</dcterms:created>
  <dc:creator>PptxGenJS</dc:creator>
</cp:coreProperties>
</file>