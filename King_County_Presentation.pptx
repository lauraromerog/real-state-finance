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b+X3d4C14bUTjSvaoN0OG4gj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5BA8">
              <a:alpha val="45100"/>
            </a:srgbClr>
          </a:solidFill>
          <a:ln cap="flat" cmpd="sng" w="12700">
            <a:solidFill>
              <a:srgbClr val="2E5BA8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195" y="0"/>
            <a:ext cx="2011800" cy="5143500"/>
          </a:xfrm>
          <a:prstGeom prst="rect">
            <a:avLst/>
          </a:prstGeom>
          <a:solidFill>
            <a:srgbClr val="E8843A">
              <a:alpha val="20000"/>
            </a:srgbClr>
          </a:solidFill>
          <a:ln cap="flat" cmpd="sng" w="12700">
            <a:solidFill>
              <a:srgbClr val="E8843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1444752"/>
            <a:ext cx="1097280" cy="54864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5" y="287532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King County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5" y="859655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House Price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08483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Predicting real estate prices in King County, WA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51460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2014 – May 2015  ·  21,613 transactions  ·  21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160520"/>
            <a:ext cx="1920240" cy="685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41788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21,596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45079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Clean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06040" y="4160520"/>
            <a:ext cx="1920240" cy="685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606040" y="41788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24.6%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606040" y="45079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Luxury (≥$650K)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54880" y="4160520"/>
            <a:ext cx="1920240" cy="685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754880" y="41788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$450K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754880" y="45079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Median 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4160520"/>
            <a:ext cx="1920240" cy="6858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903720" y="41788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R² 0.74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903720" y="45079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86868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5760" y="868680"/>
            <a:ext cx="65836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5760" y="1143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15568" y="10332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Overview &amp; Cleaning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15568" y="137160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21,613 records · targeted outlier removal · 0 nulls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0" y="86868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80" y="868680"/>
            <a:ext cx="658368" cy="118872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754880" y="1143000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504688" y="103327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EDA &amp; 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504688" y="137160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Distributions, correlations, density lens, geo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65760" y="2258568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65760" y="2258568"/>
            <a:ext cx="65836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65760" y="2532888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15568" y="242316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15568" y="2761488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new features: house_age, renovation flags, ratios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2258568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754880" y="2258568"/>
            <a:ext cx="658368" cy="118872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4880" y="2532888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504688" y="242316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504688" y="2761488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Log-transform, StandardScaler, 80/20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3648456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65760" y="3648456"/>
            <a:ext cx="658368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65760" y="3922776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115568" y="381304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15568" y="4151376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models: Linear → Gradient Boosting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754880" y="3648456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54880" y="3648456"/>
            <a:ext cx="658368" cy="118872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754880" y="3922776"/>
            <a:ext cx="658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504688" y="381304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 &amp; Luxury Segment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504688" y="4151376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R²=0.74 overall · R²=0.56 luxury · feature importance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Data Overview &amp; Cleaning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74320" y="804672"/>
            <a:ext cx="4023360" cy="4041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4320" y="804672"/>
            <a:ext cx="54864" cy="4041648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75488" y="89611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 Facts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75488" y="1298448"/>
            <a:ext cx="3703320" cy="36576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94360" y="1344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828800" y="134416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21,613 (21,596 after cleaning)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" y="1728216"/>
            <a:ext cx="3703320" cy="36576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94360" y="1773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828800" y="17739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 raw  →  19 used in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5488" y="2157984"/>
            <a:ext cx="3703320" cy="36576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94360" y="22037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Period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828800" y="22037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2014 – May 2015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5488" y="2587752"/>
            <a:ext cx="3703320" cy="36576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94360" y="26334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828800" y="26334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imputation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5488" y="3017520"/>
            <a:ext cx="3703320" cy="36576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94360" y="3063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Price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828800" y="3063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$78,000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5488" y="3447288"/>
            <a:ext cx="3703320" cy="36576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94360" y="34930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Price median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828800" y="349300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$450,000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5488" y="3877056"/>
            <a:ext cx="3703320" cy="36576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94360" y="39227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Price mean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828800" y="392277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$540,198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5488" y="4306824"/>
            <a:ext cx="3703320" cy="36576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94360" y="43525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Price max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828800" y="435254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$7,700,000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526280" y="804672"/>
            <a:ext cx="4297680" cy="4041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526280" y="804672"/>
            <a:ext cx="54864" cy="4041648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727448" y="89611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Cleaning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727448" y="1298448"/>
            <a:ext cx="3977640" cy="27432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FDE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773168" y="1316736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Removed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727448" y="16459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bedrooms = 33 — data entry error (sqft_living doesn't match)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727448" y="206654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bedrooms = 0 or bathrooms = 0 — likely land plots, not houses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727448" y="2542032"/>
            <a:ext cx="3977640" cy="274320"/>
          </a:xfrm>
          <a:prstGeom prst="rect">
            <a:avLst/>
          </a:prstGeom>
          <a:solidFill>
            <a:srgbClr val="D4EDDF"/>
          </a:solidFill>
          <a:ln cap="flat" cmpd="sng" w="12700">
            <a:solidFill>
              <a:srgbClr val="D4ED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4773168" y="2560320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Kept as-is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727448" y="288950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sqft_basement = 0 — normal, many houses have no basement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727448" y="33101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yr_renovated = 0 — normal, means never renovated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727448" y="37307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Large lots, high prices — real market data, not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581150" y="4506974"/>
            <a:ext cx="424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Targeted cleaning based on domain logic — not blanket IQR removal.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EDA — Key Findings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4320" y="804672"/>
            <a:ext cx="269748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74320" y="804672"/>
            <a:ext cx="2697480" cy="457200"/>
          </a:xfrm>
          <a:prstGeom prst="rect">
            <a:avLst/>
          </a:prstGeom>
          <a:solidFill>
            <a:srgbClr val="FDE8D8"/>
          </a:solidFill>
          <a:ln cap="flat" cmpd="sng" w="12700">
            <a:solidFill>
              <a:srgbClr val="FDE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65760" y="822960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📈  Price is Right-Skewed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65760" y="133502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Skewness: 4.026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65760" y="175564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Log-transform reduces to 0.430 — needed for linear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172968" y="804672"/>
            <a:ext cx="269748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172968" y="804672"/>
            <a:ext cx="2697480" cy="45720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264408" y="822960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🏠  sqft_living Dominates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64408" y="133502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 = 0.702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64408" y="175564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Highest linear correlation with price among all raw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71616" y="804672"/>
            <a:ext cx="269748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071616" y="804672"/>
            <a:ext cx="2697480" cy="457200"/>
          </a:xfrm>
          <a:prstGeom prst="rect">
            <a:avLst/>
          </a:prstGeom>
          <a:solidFill>
            <a:srgbClr val="E0F4F6"/>
          </a:solidFill>
          <a:ln cap="flat" cmpd="sng" w="12700">
            <a:solidFill>
              <a:srgbClr val="E0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163056" y="822960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🌊  Waterfront Premium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163056" y="1335024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~3× price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163056" y="1755648"/>
            <a:ext cx="2514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Waterfront properties command dramatically higher prices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2743200"/>
            <a:ext cx="4114800" cy="21762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74320" y="2743200"/>
            <a:ext cx="54864" cy="2176272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57200" y="2834640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Top Correlations with Price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508760" y="3264408"/>
            <a:ext cx="1797345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57200" y="32186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351825" y="32186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0.702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508760" y="3538728"/>
            <a:ext cx="1710294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57200" y="3493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264774" y="34930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0.668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508760" y="3813048"/>
            <a:ext cx="1548994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57200" y="376732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sqft_above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103474" y="37673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0.605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508760" y="4087368"/>
            <a:ext cx="1497787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57200" y="404164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052267" y="404164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0.585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508760" y="4361688"/>
            <a:ext cx="1346728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57200" y="43159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bathrooms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901208" y="43159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0.526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508760" y="4636008"/>
            <a:ext cx="1016447" cy="182880"/>
          </a:xfrm>
          <a:prstGeom prst="rect">
            <a:avLst/>
          </a:prstGeom>
          <a:solidFill>
            <a:srgbClr val="2E5BA8">
              <a:alpha val="70196"/>
            </a:srgbClr>
          </a:solidFill>
          <a:ln cap="flat" cmpd="sng" w="12700">
            <a:solidFill>
              <a:srgbClr val="2E5BA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457200" y="45902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570927" y="4590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0.397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617720" y="2743200"/>
            <a:ext cx="4206240" cy="21762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617720" y="2743200"/>
            <a:ext cx="54864" cy="2176272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800600" y="2834640"/>
            <a:ext cx="3886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Luxury vs Standard Segment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800600" y="3218688"/>
            <a:ext cx="126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099048" y="321868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&lt;$650K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397496" y="321868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Luxury ≥$650K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800600" y="3511296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099048" y="3474720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6099048" y="3511296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16,274 (75.4%)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397496" y="3474720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7397496" y="3511296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5,322 (24.6%)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800600" y="3803904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sqft_living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099048" y="3767328"/>
            <a:ext cx="1261872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099048" y="3803904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1,680 sqft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397496" y="3767328"/>
            <a:ext cx="1261872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397496" y="3803904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2,895 sqft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800600" y="409651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Grade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099048" y="4059936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099048" y="409651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7397496" y="4059936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7397496" y="409651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9.2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800600" y="438912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Bathrooms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099048" y="4352544"/>
            <a:ext cx="1261872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6099048" y="438912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397496" y="4352544"/>
            <a:ext cx="1261872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397496" y="438912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2.8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800600" y="468172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Waterfront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099048" y="4645152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099048" y="468172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7397496" y="4645152"/>
            <a:ext cx="1261872" cy="27432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7397496" y="468172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4.1%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03–04 · Feature Engineering &amp; Preprocessing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74320" y="804672"/>
            <a:ext cx="4160520" cy="4041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274320" y="804672"/>
            <a:ext cx="54864" cy="4041648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475488" y="89611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 New Features Created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75488" y="1316736"/>
            <a:ext cx="3794760" cy="402336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94360" y="1371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house_age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2331720" y="13716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sale_year − yr_built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75488" y="1792224"/>
            <a:ext cx="3794760" cy="402336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594360" y="1847088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was_renovated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331720" y="18470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Binary: renovated or not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75488" y="2267712"/>
            <a:ext cx="3794760" cy="402336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594360" y="2322576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years_since_reno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331720" y="232257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Recency of last renovation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75488" y="2743200"/>
            <a:ext cx="3794760" cy="402336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94360" y="279806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has_basement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2331720" y="27980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Binary: basement present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75488" y="3218688"/>
            <a:ext cx="3794760" cy="402336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594360" y="327355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living_vs_neighbors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2331720" y="32735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 / sqft_living15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75488" y="3694176"/>
            <a:ext cx="3794760" cy="402336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594360" y="37490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sale_month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2331720" y="37490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Seasonal price variation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75488" y="4169664"/>
            <a:ext cx="3794760" cy="402336"/>
          </a:xfrm>
          <a:prstGeom prst="rect">
            <a:avLst/>
          </a:prstGeom>
          <a:solidFill>
            <a:srgbClr val="FDE8D8"/>
          </a:solidFill>
          <a:ln cap="flat" cmpd="sng" w="12700">
            <a:solidFill>
              <a:srgbClr val="FDE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594360" y="4224528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lot_utilization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331720" y="42245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EDA only — not used in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75488" y="4626864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price_per_sqft also computed for EDA only — both excluded to avoid data leakage.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663440" y="804672"/>
            <a:ext cx="4160520" cy="4041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4663440" y="804672"/>
            <a:ext cx="54864" cy="4041648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4864608" y="89611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864608" y="1316736"/>
            <a:ext cx="37947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864608" y="1316736"/>
            <a:ext cx="347472" cy="731520"/>
          </a:xfrm>
          <a:prstGeom prst="rect">
            <a:avLst/>
          </a:prstGeom>
          <a:solidFill>
            <a:srgbClr val="FDE8D8"/>
          </a:solidFill>
          <a:ln cap="flat" cmpd="sng" w="12700">
            <a:solidFill>
              <a:srgbClr val="FDE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4864608" y="1481328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5321808" y="13716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Log-transform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5321808" y="166420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Skewness: 4.026 → 0.430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Back-transform with np.expm1() for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864608" y="2157984"/>
            <a:ext cx="37947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864608" y="2157984"/>
            <a:ext cx="347472" cy="731520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EB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4864608" y="2322576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321808" y="22128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321808" y="2505456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train (17,276)  ·  20% test (4,320)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random_state=42 for reproducibility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864608" y="2999232"/>
            <a:ext cx="37947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4864608" y="2999232"/>
            <a:ext cx="347472" cy="731520"/>
          </a:xfrm>
          <a:prstGeom prst="rect">
            <a:avLst/>
          </a:prstGeom>
          <a:solidFill>
            <a:srgbClr val="E0F4F6"/>
          </a:solidFill>
          <a:ln cap="flat" cmpd="sng" w="12700">
            <a:solidFill>
              <a:srgbClr val="E0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4864608" y="3163824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321808" y="305409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321808" y="334670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 on train ONLY → transform both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Prevents data leakage from test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864608" y="3840480"/>
            <a:ext cx="37947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864608" y="3840480"/>
            <a:ext cx="347472" cy="731520"/>
          </a:xfrm>
          <a:prstGeom prst="rect">
            <a:avLst/>
          </a:prstGeom>
          <a:solidFill>
            <a:srgbClr val="D4EDDF"/>
          </a:solidFill>
          <a:ln cap="flat" cmpd="sng" w="12700">
            <a:solidFill>
              <a:srgbClr val="D4ED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864608" y="4005072"/>
            <a:ext cx="3474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321808" y="38953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 null imputation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321808" y="41879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missing values in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skipped entirely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Model Selection &amp;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models trained on log(price) — metrics evaluated on back-transformed dollar predictions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274320" y="120700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R² Score (higher = better)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623560" y="1207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RMSE &amp; MAE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256032" y="1481328"/>
            <a:ext cx="8631936" cy="621792"/>
          </a:xfrm>
          <a:prstGeom prst="rect">
            <a:avLst/>
          </a:prstGeom>
          <a:solidFill>
            <a:srgbClr val="EBF2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320040" y="1572768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Gradient Boosting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331720" y="1627632"/>
            <a:ext cx="2235379" cy="23774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612819" y="15727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0.7408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5623560" y="162763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$184,198  |  MAE: $119,308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20040" y="219456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331720" y="2249424"/>
            <a:ext cx="2193134" cy="237744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4570574" y="21945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0.7268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623560" y="2249424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$189,096  |  MAE: $114,498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20040" y="281635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2331720" y="2871216"/>
            <a:ext cx="2126748" cy="23774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504188" y="281635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0.7048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5623560" y="287121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$196,553  |  MAE: $129,807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320040" y="3438144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2331720" y="3493008"/>
            <a:ext cx="2123429" cy="23774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500869" y="34381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0.7037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623560" y="349300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$196,930  |  MAE: $129,942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20040" y="405993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2331720" y="4114800"/>
            <a:ext cx="2123429" cy="23774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4500869" y="4059936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0.7037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623560" y="41148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$196,941  |  MAE: $129,944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411480" y="46908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Gradient Boosting?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Sequentially corrects errors from prior trees. Captures non-linear interactions (e.g. grade × sqft). No distribution assumptions. +14pp R² vs linear baseline.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365760" y="73152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Results, Feature Importance &amp; Luxury Segment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65760" y="73152"/>
            <a:ext cx="8412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King County House Price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74320" y="804672"/>
            <a:ext cx="201168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274320" y="841248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0.7408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274320" y="13350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R² Overall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274320" y="15727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74% variance explained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450592" y="804672"/>
            <a:ext cx="201168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2450592" y="841248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$184K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450592" y="13350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 Overall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2450592" y="15727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original price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626864" y="804672"/>
            <a:ext cx="2011680" cy="1078992"/>
          </a:xfrm>
          <a:prstGeom prst="rect">
            <a:avLst/>
          </a:prstGeom>
          <a:solidFill>
            <a:srgbClr val="FDE8D8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626864" y="841248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0.5631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626864" y="13350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R² Luxury ≥$650K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626864" y="15727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1,025 test houses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803136" y="804672"/>
            <a:ext cx="2011680" cy="1078992"/>
          </a:xfrm>
          <a:prstGeom prst="rect">
            <a:avLst/>
          </a:prstGeom>
          <a:solidFill>
            <a:srgbClr val="FDE8D8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6803136" y="841248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$314K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6803136" y="13350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 Luxury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803136" y="157276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variance segment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274320" y="2029968"/>
            <a:ext cx="4160520" cy="2816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274320" y="2029968"/>
            <a:ext cx="54864" cy="2816352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475488" y="2121408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Importances (Gradient Boosting)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57200" y="2514600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1737360" y="2551176"/>
            <a:ext cx="1308964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3092044" y="2514600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40.9%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457200" y="280263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1737360" y="2839212"/>
            <a:ext cx="1068934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2852014" y="2802636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33.4%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57200" y="3090672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house_age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1737360" y="3127248"/>
            <a:ext cx="316840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2099920" y="3090672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9.9%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57200" y="3378708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737360" y="3415284"/>
            <a:ext cx="166421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1949501" y="3378708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57200" y="3666744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sqft_lot15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737360" y="3703320"/>
            <a:ext cx="115214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1898294" y="3666744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457200" y="3954780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737360" y="3991356"/>
            <a:ext cx="51206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1834286" y="3954780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457200" y="4242816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bathrooms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1737360" y="4279392"/>
            <a:ext cx="41605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"/>
          <p:cNvSpPr/>
          <p:nvPr/>
        </p:nvSpPr>
        <p:spPr>
          <a:xfrm>
            <a:off x="1824685" y="4242816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57200" y="4530852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waterfront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1737360" y="4567428"/>
            <a:ext cx="28804" cy="182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1811884" y="4530852"/>
            <a:ext cx="548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663440" y="2029968"/>
            <a:ext cx="4160520" cy="2816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4663440" y="2029968"/>
            <a:ext cx="54864" cy="2816352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"/>
          <p:cNvSpPr/>
          <p:nvPr/>
        </p:nvSpPr>
        <p:spPr>
          <a:xfrm>
            <a:off x="4864608" y="2121408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864608" y="25146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grade ranks #1 in importance (40.9%) despite r=0.668 — non-linear multiplier effect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4864608" y="2907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sqft_living is #2 (33.4%) — consistent with highest linear correlation (r=0.702)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4864608" y="330098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house_age (#3, 9.9%) not in raw data — confirms value of feature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4864608" y="369417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🌊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waterfront only 0.9% importance despite 3× price premium — rare in test set (n&lt;50)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4864608" y="40873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Luxury R² drops from 0.74 → 0.56 — idiosyncratic pricing not captured by standard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864608" y="44805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Separate dedicated model recommended for the luxury segment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228600" y="457200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228600" y="960120"/>
            <a:ext cx="1371600" cy="45720"/>
          </a:xfrm>
          <a:prstGeom prst="rect">
            <a:avLst/>
          </a:prstGeom>
          <a:solidFill>
            <a:srgbClr val="E8843A"/>
          </a:solidFill>
          <a:ln cap="flat" cmpd="sng" w="12700">
            <a:solidFill>
              <a:srgbClr val="E884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201168" y="114300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Gradient Boosting best model: R²=0.74, RMSE=$184K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01168" y="173736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grade is the #1 driver (40.9%) — non-linear multiplier effect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201168" y="233172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Log-transforming price is critical: skewness 4.026 → 0.430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201168" y="292608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house_age (#3) validates feature engineering value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201168" y="352044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Luxury segment (24.6%) harder to predict: R²=0.56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01168" y="4114800"/>
            <a:ext cx="4251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43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Targeted cleaning beats blanket outlier removal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846320" y="47731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Kaggle — King County Houses  ·  minasameh55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2026-03-18T15:47:07Z</dcterms:created>
  <dc:creator>PptxGenJS</dc:creator>
</cp:coreProperties>
</file>